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15"/>
  </p:notesMasterIdLst>
  <p:sldIdLst>
    <p:sldId id="298" r:id="rId5"/>
    <p:sldId id="301" r:id="rId6"/>
    <p:sldId id="302" r:id="rId7"/>
    <p:sldId id="303" r:id="rId8"/>
    <p:sldId id="304" r:id="rId9"/>
    <p:sldId id="305" r:id="rId10"/>
    <p:sldId id="306" r:id="rId11"/>
    <p:sldId id="307" r:id="rId12"/>
    <p:sldId id="308" r:id="rId13"/>
    <p:sldId id="30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19" autoAdjust="0"/>
  </p:normalViewPr>
  <p:slideViewPr>
    <p:cSldViewPr snapToGrid="0">
      <p:cViewPr varScale="1">
        <p:scale>
          <a:sx n="68" d="100"/>
          <a:sy n="68" d="100"/>
        </p:scale>
        <p:origin x="58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290E01-ADCB-40FA-9C25-E74AAC82C3F2}" type="datetimeFigureOut">
              <a:rPr lang="en-IN" smtClean="0"/>
              <a:t>03-07-2026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0C3976-02F3-4950-9007-73FFC9102FEA}" type="slidenum">
              <a:rPr lang="en-IN" smtClean="0"/>
              <a:t>‹#›</a:t>
            </a:fld>
            <a:endParaRPr lang="en-IN"/>
          </a:p>
        </p:txBody>
      </p:sp>
    </p:spTree>
    <p:extLst>
      <p:ext uri="{BB962C8B-B14F-4D97-AF65-F5344CB8AC3E}">
        <p14:creationId xmlns:p14="http://schemas.microsoft.com/office/powerpoint/2010/main" val="4186446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A0C3976-02F3-4950-9007-73FFC9102FEA}" type="slidenum">
              <a:rPr lang="en-IN" smtClean="0"/>
              <a:t>1</a:t>
            </a:fld>
            <a:endParaRPr lang="en-IN"/>
          </a:p>
        </p:txBody>
      </p:sp>
    </p:spTree>
    <p:extLst>
      <p:ext uri="{BB962C8B-B14F-4D97-AF65-F5344CB8AC3E}">
        <p14:creationId xmlns:p14="http://schemas.microsoft.com/office/powerpoint/2010/main" val="40748458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7/3/2026</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234375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7/3/2026</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404659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7/3/2026</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27835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7/3/2026</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883595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7/3/2026</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639257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7/3/2026</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685433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7/3/2026</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333937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7/3/2026</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7711844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7/3/2026</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016137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7/3/2026</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6030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2FDF0794-1B86-42B2-B8C7-F60123E638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Franklin Gothic Book" panose="020F0502020204030204"/>
              <a:ea typeface="+mn-ea"/>
              <a:cs typeface="+mn-cs"/>
            </a:endParaRPr>
          </a:p>
        </p:txBody>
      </p:sp>
      <p:pic>
        <p:nvPicPr>
          <p:cNvPr id="4" name="Picture 3" descr="A close up of a piece of paper with a pencil laying on top">
            <a:extLst>
              <a:ext uri="{FF2B5EF4-FFF2-40B4-BE49-F238E27FC236}">
                <a16:creationId xmlns:a16="http://schemas.microsoft.com/office/drawing/2014/main" id="{65810330-F0B5-43C9-BC34-094FFB5C0529}"/>
              </a:ext>
            </a:extLst>
          </p:cNvPr>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3273" y="-12683"/>
            <a:ext cx="12191980" cy="6858000"/>
          </a:xfrm>
          <a:prstGeom prst="rect">
            <a:avLst/>
          </a:prstGeom>
        </p:spPr>
      </p:pic>
      <p:sp>
        <p:nvSpPr>
          <p:cNvPr id="35" name="Rectangle 34">
            <a:extLst>
              <a:ext uri="{FF2B5EF4-FFF2-40B4-BE49-F238E27FC236}">
                <a16:creationId xmlns:a16="http://schemas.microsoft.com/office/drawing/2014/main" id="{C5373426-E26E-431D-959C-5DB96C0B62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12607" y="1238442"/>
            <a:ext cx="3635926" cy="4355751"/>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Franklin Gothic Book" panose="020F0502020204030204"/>
              <a:ea typeface="+mn-ea"/>
              <a:cs typeface="+mn-cs"/>
            </a:endParaRPr>
          </a:p>
        </p:txBody>
      </p:sp>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8123416" y="1475234"/>
            <a:ext cx="3214307" cy="2901694"/>
          </a:xfrm>
        </p:spPr>
        <p:txBody>
          <a:bodyPr anchor="b">
            <a:normAutofit/>
          </a:bodyPr>
          <a:lstStyle/>
          <a:p>
            <a:r>
              <a:rPr lang="en-IN" sz="4000" dirty="0"/>
              <a:t>Python Data Analysis</a:t>
            </a:r>
            <a:br>
              <a:rPr lang="en-IN" sz="4000" dirty="0"/>
            </a:br>
            <a:br>
              <a:rPr lang="en-IN" sz="2400" dirty="0"/>
            </a:br>
            <a:r>
              <a:rPr lang="en-GB" sz="2000" dirty="0"/>
              <a:t>Exploratory Data Analysis of</a:t>
            </a:r>
            <a:br>
              <a:rPr lang="en-GB" sz="2000" dirty="0"/>
            </a:br>
            <a:r>
              <a:rPr lang="en-GB" sz="2000" dirty="0"/>
              <a:t>Netflix Movies &amp; TV Shows</a:t>
            </a:r>
            <a:endParaRPr lang="en-US" sz="2000" dirty="0">
              <a:solidFill>
                <a:schemeClr val="tx1"/>
              </a:solidFill>
            </a:endParaRPr>
          </a:p>
        </p:txBody>
      </p:sp>
      <p:sp>
        <p:nvSpPr>
          <p:cNvPr id="3" name="Subtitle 2">
            <a:extLst>
              <a:ext uri="{FF2B5EF4-FFF2-40B4-BE49-F238E27FC236}">
                <a16:creationId xmlns:a16="http://schemas.microsoft.com/office/drawing/2014/main" id="{255E1F2F-E259-4EA8-9FFD-3A10AF541859}"/>
              </a:ext>
            </a:extLst>
          </p:cNvPr>
          <p:cNvSpPr>
            <a:spLocks noGrp="1"/>
          </p:cNvSpPr>
          <p:nvPr>
            <p:ph type="subTitle" idx="1"/>
          </p:nvPr>
        </p:nvSpPr>
        <p:spPr>
          <a:xfrm>
            <a:off x="8127750" y="4608576"/>
            <a:ext cx="3205640" cy="774186"/>
          </a:xfrm>
        </p:spPr>
        <p:txBody>
          <a:bodyPr anchor="t">
            <a:normAutofit fontScale="55000" lnSpcReduction="20000"/>
          </a:bodyPr>
          <a:lstStyle/>
          <a:p>
            <a:pPr>
              <a:lnSpc>
                <a:spcPct val="100000"/>
              </a:lnSpc>
            </a:pPr>
            <a:r>
              <a:rPr lang="en-IN" sz="2900" dirty="0"/>
              <a:t>Prepared by</a:t>
            </a:r>
            <a:br>
              <a:rPr lang="en-IN" sz="2900" dirty="0"/>
            </a:br>
            <a:r>
              <a:rPr lang="en-US" sz="2900" dirty="0"/>
              <a:t>Seri Lalitha Devi</a:t>
            </a:r>
          </a:p>
          <a:p>
            <a:pPr>
              <a:lnSpc>
                <a:spcPct val="100000"/>
              </a:lnSpc>
            </a:pPr>
            <a:r>
              <a:rPr lang="en-IN" sz="1400" dirty="0"/>
              <a:t>Python • Pandas • NumPy • Matplotlib</a:t>
            </a:r>
            <a:endParaRPr lang="en-US" sz="1400" dirty="0"/>
          </a:p>
        </p:txBody>
      </p:sp>
      <p:cxnSp>
        <p:nvCxnSpPr>
          <p:cNvPr id="37" name="Straight Connector 36">
            <a:extLst>
              <a:ext uri="{FF2B5EF4-FFF2-40B4-BE49-F238E27FC236}">
                <a16:creationId xmlns:a16="http://schemas.microsoft.com/office/drawing/2014/main" id="{96D07482-83A3-4451-943C-B469610829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76090" y="4508519"/>
            <a:ext cx="310896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EDC90921-9082-491B-940E-827D679F34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rgbClr val="26262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93143965"/>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FA8E8-FE58-D157-45FB-4B1540488F1F}"/>
              </a:ext>
            </a:extLst>
          </p:cNvPr>
          <p:cNvSpPr>
            <a:spLocks noGrp="1"/>
          </p:cNvSpPr>
          <p:nvPr>
            <p:ph type="title"/>
          </p:nvPr>
        </p:nvSpPr>
        <p:spPr/>
        <p:txBody>
          <a:bodyPr/>
          <a:lstStyle/>
          <a:p>
            <a:r>
              <a:rPr lang="en-IN" dirty="0"/>
              <a:t>Project Overview</a:t>
            </a:r>
          </a:p>
        </p:txBody>
      </p:sp>
      <p:sp>
        <p:nvSpPr>
          <p:cNvPr id="3" name="Content Placeholder 2">
            <a:extLst>
              <a:ext uri="{FF2B5EF4-FFF2-40B4-BE49-F238E27FC236}">
                <a16:creationId xmlns:a16="http://schemas.microsoft.com/office/drawing/2014/main" id="{00BEBCE7-52F2-7514-E3F2-A3A0CECD7E2A}"/>
              </a:ext>
            </a:extLst>
          </p:cNvPr>
          <p:cNvSpPr>
            <a:spLocks noGrp="1"/>
          </p:cNvSpPr>
          <p:nvPr>
            <p:ph sz="half" idx="1"/>
          </p:nvPr>
        </p:nvSpPr>
        <p:spPr>
          <a:xfrm>
            <a:off x="1097281" y="2120900"/>
            <a:ext cx="9483634" cy="3935516"/>
          </a:xfrm>
        </p:spPr>
        <p:txBody>
          <a:bodyPr>
            <a:normAutofit fontScale="25000" lnSpcReduction="20000"/>
          </a:bodyPr>
          <a:lstStyle/>
          <a:p>
            <a:r>
              <a:rPr lang="en-IN" sz="6400" dirty="0"/>
              <a:t>Netflix is one of the world's leading streaming platforms, offering a diverse collection of movies and TV shows across multiple countries and genres. </a:t>
            </a:r>
            <a:r>
              <a:rPr lang="en-IN" sz="6400" dirty="0" err="1"/>
              <a:t>Analyzing</a:t>
            </a:r>
            <a:r>
              <a:rPr lang="en-IN" sz="6400" dirty="0"/>
              <a:t> its content library provides valuable insights into content distribution, production trends, and audience preferences.</a:t>
            </a:r>
          </a:p>
          <a:p>
            <a:r>
              <a:rPr lang="en-IN" sz="6400" dirty="0"/>
              <a:t>This project performs </a:t>
            </a:r>
            <a:r>
              <a:rPr lang="en-IN" sz="6400" b="1" dirty="0"/>
              <a:t>Exploratory Data Analysis (EDA)</a:t>
            </a:r>
            <a:r>
              <a:rPr lang="en-IN" sz="6400" dirty="0"/>
              <a:t> on the Netflix Movies &amp; TV Shows dataset using Python. The analysis includes data cleaning, visualization, and insight generation to identify trends in content type, release patterns, ratings, genres, and geographic distribution.</a:t>
            </a:r>
          </a:p>
          <a:p>
            <a:r>
              <a:rPr lang="en-IN" sz="6400" b="1" dirty="0"/>
              <a:t>Project Scope</a:t>
            </a:r>
          </a:p>
          <a:p>
            <a:pPr>
              <a:buClrTx/>
              <a:buFont typeface="Arial" panose="020B0604020202020204" pitchFamily="34" charset="0"/>
              <a:buChar char="•"/>
            </a:pPr>
            <a:r>
              <a:rPr lang="en-IN" sz="6400" dirty="0" err="1"/>
              <a:t>Analyze</a:t>
            </a:r>
            <a:r>
              <a:rPr lang="en-IN" sz="6400" dirty="0"/>
              <a:t> content distribution </a:t>
            </a:r>
          </a:p>
          <a:p>
            <a:pPr>
              <a:buClrTx/>
              <a:buFont typeface="Arial" panose="020B0604020202020204" pitchFamily="34" charset="0"/>
              <a:buChar char="•"/>
            </a:pPr>
            <a:r>
              <a:rPr lang="en-IN" sz="6400" dirty="0"/>
              <a:t>Examine release trends </a:t>
            </a:r>
          </a:p>
          <a:p>
            <a:pPr>
              <a:buClrTx/>
              <a:buFont typeface="Arial" panose="020B0604020202020204" pitchFamily="34" charset="0"/>
              <a:buChar char="•"/>
            </a:pPr>
            <a:r>
              <a:rPr lang="en-IN" sz="6400" dirty="0"/>
              <a:t>Identify top countries &amp; genres </a:t>
            </a:r>
          </a:p>
          <a:p>
            <a:pPr>
              <a:buClrTx/>
              <a:buFont typeface="Arial" panose="020B0604020202020204" pitchFamily="34" charset="0"/>
              <a:buChar char="•"/>
            </a:pPr>
            <a:r>
              <a:rPr lang="en-IN" sz="6400" dirty="0"/>
              <a:t>Explore content ratings </a:t>
            </a:r>
          </a:p>
          <a:p>
            <a:pPr>
              <a:buClrTx/>
              <a:buFont typeface="Arial" panose="020B0604020202020204" pitchFamily="34" charset="0"/>
              <a:buChar char="•"/>
            </a:pPr>
            <a:r>
              <a:rPr lang="en-IN" sz="6400" dirty="0"/>
              <a:t>Generate business insights</a:t>
            </a:r>
          </a:p>
          <a:p>
            <a:endParaRPr lang="en-IN" sz="2000" b="1" dirty="0"/>
          </a:p>
        </p:txBody>
      </p:sp>
      <p:sp>
        <p:nvSpPr>
          <p:cNvPr id="4" name="Content Placeholder 3">
            <a:extLst>
              <a:ext uri="{FF2B5EF4-FFF2-40B4-BE49-F238E27FC236}">
                <a16:creationId xmlns:a16="http://schemas.microsoft.com/office/drawing/2014/main" id="{8426C95E-703A-A688-42EA-8C3B91B4CC7F}"/>
              </a:ext>
            </a:extLst>
          </p:cNvPr>
          <p:cNvSpPr>
            <a:spLocks noGrp="1"/>
          </p:cNvSpPr>
          <p:nvPr>
            <p:ph sz="half" idx="2"/>
          </p:nvPr>
        </p:nvSpPr>
        <p:spPr>
          <a:xfrm>
            <a:off x="5391399" y="3823854"/>
            <a:ext cx="2208810" cy="2339439"/>
          </a:xfrm>
        </p:spPr>
        <p:txBody>
          <a:bodyPr>
            <a:normAutofit fontScale="25000" lnSpcReduction="20000"/>
          </a:bodyPr>
          <a:lstStyle/>
          <a:p>
            <a:r>
              <a:rPr lang="en-IN" sz="5600" b="1" dirty="0"/>
              <a:t>Tools Used</a:t>
            </a:r>
          </a:p>
          <a:p>
            <a:pPr>
              <a:buClrTx/>
              <a:buFont typeface="Arial" panose="020B0604020202020204" pitchFamily="34" charset="0"/>
              <a:buChar char="•"/>
            </a:pPr>
            <a:r>
              <a:rPr lang="en-IN" sz="5600" dirty="0"/>
              <a:t>Python </a:t>
            </a:r>
          </a:p>
          <a:p>
            <a:pPr>
              <a:buClrTx/>
              <a:buFont typeface="Arial" panose="020B0604020202020204" pitchFamily="34" charset="0"/>
              <a:buChar char="•"/>
            </a:pPr>
            <a:r>
              <a:rPr lang="en-IN" sz="5600" dirty="0"/>
              <a:t>Pandas </a:t>
            </a:r>
          </a:p>
          <a:p>
            <a:pPr>
              <a:buClrTx/>
              <a:buFont typeface="Arial" panose="020B0604020202020204" pitchFamily="34" charset="0"/>
              <a:buChar char="•"/>
            </a:pPr>
            <a:r>
              <a:rPr lang="en-IN" sz="5600" dirty="0"/>
              <a:t>NumPy </a:t>
            </a:r>
          </a:p>
          <a:p>
            <a:pPr>
              <a:buClrTx/>
              <a:buFont typeface="Arial" panose="020B0604020202020204" pitchFamily="34" charset="0"/>
              <a:buChar char="•"/>
            </a:pPr>
            <a:r>
              <a:rPr lang="en-IN" sz="5600" dirty="0"/>
              <a:t>Matplotlib </a:t>
            </a:r>
          </a:p>
          <a:p>
            <a:pPr>
              <a:buClrTx/>
              <a:buFont typeface="Arial" panose="020B0604020202020204" pitchFamily="34" charset="0"/>
              <a:buChar char="•"/>
            </a:pPr>
            <a:r>
              <a:rPr lang="en-IN" sz="5600" dirty="0"/>
              <a:t>Jupyter Notebook </a:t>
            </a:r>
          </a:p>
          <a:p>
            <a:endParaRPr lang="en-IN" dirty="0"/>
          </a:p>
        </p:txBody>
      </p:sp>
    </p:spTree>
    <p:extLst>
      <p:ext uri="{BB962C8B-B14F-4D97-AF65-F5344CB8AC3E}">
        <p14:creationId xmlns:p14="http://schemas.microsoft.com/office/powerpoint/2010/main" val="4753373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D85F7-51A7-E238-0161-126B96C2B6DA}"/>
              </a:ext>
            </a:extLst>
          </p:cNvPr>
          <p:cNvSpPr>
            <a:spLocks noGrp="1"/>
          </p:cNvSpPr>
          <p:nvPr>
            <p:ph type="title"/>
          </p:nvPr>
        </p:nvSpPr>
        <p:spPr>
          <a:xfrm>
            <a:off x="1097280" y="286603"/>
            <a:ext cx="10058400" cy="1577823"/>
          </a:xfrm>
        </p:spPr>
        <p:txBody>
          <a:bodyPr/>
          <a:lstStyle/>
          <a:p>
            <a:r>
              <a:rPr lang="en-IN" dirty="0"/>
              <a:t>Business Objective</a:t>
            </a:r>
          </a:p>
        </p:txBody>
      </p:sp>
      <p:sp>
        <p:nvSpPr>
          <p:cNvPr id="8" name="Content Placeholder 7">
            <a:extLst>
              <a:ext uri="{FF2B5EF4-FFF2-40B4-BE49-F238E27FC236}">
                <a16:creationId xmlns:a16="http://schemas.microsoft.com/office/drawing/2014/main" id="{7E199780-F172-F013-9ECF-58AEBBBF1B78}"/>
              </a:ext>
            </a:extLst>
          </p:cNvPr>
          <p:cNvSpPr>
            <a:spLocks noGrp="1"/>
          </p:cNvSpPr>
          <p:nvPr>
            <p:ph idx="1"/>
          </p:nvPr>
        </p:nvSpPr>
        <p:spPr>
          <a:xfrm>
            <a:off x="885503" y="2025074"/>
            <a:ext cx="11218224" cy="4328225"/>
          </a:xfrm>
        </p:spPr>
        <p:txBody>
          <a:bodyPr>
            <a:normAutofit fontScale="47500" lnSpcReduction="20000"/>
          </a:bodyPr>
          <a:lstStyle/>
          <a:p>
            <a:r>
              <a:rPr lang="en-IN" sz="3400" dirty="0"/>
              <a:t>This project aims to </a:t>
            </a:r>
            <a:r>
              <a:rPr lang="en-IN" sz="3400" dirty="0" err="1"/>
              <a:t>analyze</a:t>
            </a:r>
            <a:r>
              <a:rPr lang="en-IN" sz="3400" dirty="0"/>
              <a:t> Netflix's content library and answer key business questions using data analysis and visualization techniques.</a:t>
            </a:r>
          </a:p>
          <a:p>
            <a:r>
              <a:rPr lang="en-IN" sz="3400" b="1" dirty="0"/>
              <a:t>Objectives</a:t>
            </a:r>
            <a:endParaRPr lang="en-IN" sz="3400" dirty="0"/>
          </a:p>
          <a:p>
            <a:pPr>
              <a:buClr>
                <a:schemeClr val="tx1"/>
              </a:buClr>
              <a:buFont typeface="Arial" panose="020B0604020202020204" pitchFamily="34" charset="0"/>
              <a:buChar char="•"/>
            </a:pPr>
            <a:r>
              <a:rPr lang="en-IN" sz="3400" dirty="0"/>
              <a:t>Identify the distribution of Movies and TV Shows. </a:t>
            </a:r>
          </a:p>
          <a:p>
            <a:pPr>
              <a:buClr>
                <a:schemeClr val="tx1"/>
              </a:buClr>
              <a:buFont typeface="Arial" panose="020B0604020202020204" pitchFamily="34" charset="0"/>
              <a:buChar char="•"/>
            </a:pPr>
            <a:r>
              <a:rPr lang="en-IN" sz="3400" dirty="0" err="1"/>
              <a:t>Analyze</a:t>
            </a:r>
            <a:r>
              <a:rPr lang="en-IN" sz="3400" dirty="0"/>
              <a:t> content growth over time. </a:t>
            </a:r>
          </a:p>
          <a:p>
            <a:pPr>
              <a:buClr>
                <a:schemeClr val="tx1"/>
              </a:buClr>
              <a:buFont typeface="Arial" panose="020B0604020202020204" pitchFamily="34" charset="0"/>
              <a:buChar char="•"/>
            </a:pPr>
            <a:r>
              <a:rPr lang="en-IN" sz="3400" dirty="0"/>
              <a:t>Discover the top content-producing countries. </a:t>
            </a:r>
          </a:p>
          <a:p>
            <a:pPr>
              <a:buClr>
                <a:schemeClr val="tx1"/>
              </a:buClr>
              <a:buFont typeface="Arial" panose="020B0604020202020204" pitchFamily="34" charset="0"/>
              <a:buChar char="•"/>
            </a:pPr>
            <a:r>
              <a:rPr lang="en-IN" sz="3400" dirty="0"/>
              <a:t>Examine ratings and audience classifications. </a:t>
            </a:r>
          </a:p>
          <a:p>
            <a:pPr>
              <a:buClr>
                <a:schemeClr val="tx1"/>
              </a:buClr>
              <a:buFont typeface="Arial" panose="020B0604020202020204" pitchFamily="34" charset="0"/>
              <a:buChar char="•"/>
            </a:pPr>
            <a:r>
              <a:rPr lang="en-IN" sz="3400" dirty="0"/>
              <a:t>Identify the most common genres. </a:t>
            </a:r>
          </a:p>
          <a:p>
            <a:pPr>
              <a:buClr>
                <a:schemeClr val="tx1"/>
              </a:buClr>
              <a:buFont typeface="Arial" panose="020B0604020202020204" pitchFamily="34" charset="0"/>
              <a:buChar char="•"/>
            </a:pPr>
            <a:r>
              <a:rPr lang="en-IN" sz="3400" dirty="0"/>
              <a:t>Generate actionable business insights from the data. </a:t>
            </a:r>
          </a:p>
          <a:p>
            <a:r>
              <a:rPr lang="en-IN" sz="3400" b="1" dirty="0"/>
              <a:t>Expected Outcome</a:t>
            </a:r>
            <a:br>
              <a:rPr lang="en-IN" sz="3400" b="1" dirty="0"/>
            </a:br>
            <a:r>
              <a:rPr lang="en-IN" sz="3400" dirty="0"/>
              <a:t>The analysis helps understand Netflix's content strategy, audience targeting, and content trends, enabling data-driven business decisions.</a:t>
            </a:r>
          </a:p>
          <a:p>
            <a:endParaRPr lang="en-IN" dirty="0"/>
          </a:p>
        </p:txBody>
      </p:sp>
    </p:spTree>
    <p:extLst>
      <p:ext uri="{BB962C8B-B14F-4D97-AF65-F5344CB8AC3E}">
        <p14:creationId xmlns:p14="http://schemas.microsoft.com/office/powerpoint/2010/main" val="1169002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FED99-8033-76D4-3878-77FAC1681915}"/>
              </a:ext>
            </a:extLst>
          </p:cNvPr>
          <p:cNvSpPr>
            <a:spLocks noGrp="1"/>
          </p:cNvSpPr>
          <p:nvPr>
            <p:ph type="title"/>
          </p:nvPr>
        </p:nvSpPr>
        <p:spPr/>
        <p:txBody>
          <a:bodyPr/>
          <a:lstStyle/>
          <a:p>
            <a:r>
              <a:rPr lang="en-IN" dirty="0"/>
              <a:t>Dataset Overview</a:t>
            </a:r>
            <a:endParaRPr lang="en-IN" b="1" dirty="0"/>
          </a:p>
        </p:txBody>
      </p:sp>
      <p:sp>
        <p:nvSpPr>
          <p:cNvPr id="3" name="Content Placeholder 2">
            <a:extLst>
              <a:ext uri="{FF2B5EF4-FFF2-40B4-BE49-F238E27FC236}">
                <a16:creationId xmlns:a16="http://schemas.microsoft.com/office/drawing/2014/main" id="{7EF03311-A9F1-4C99-2EDF-26AF1B5DE4E6}"/>
              </a:ext>
            </a:extLst>
          </p:cNvPr>
          <p:cNvSpPr>
            <a:spLocks noGrp="1"/>
          </p:cNvSpPr>
          <p:nvPr>
            <p:ph sz="half" idx="1"/>
          </p:nvPr>
        </p:nvSpPr>
        <p:spPr>
          <a:xfrm>
            <a:off x="1097280" y="2120901"/>
            <a:ext cx="6217920" cy="1584200"/>
          </a:xfrm>
        </p:spPr>
        <p:txBody>
          <a:bodyPr>
            <a:normAutofit fontScale="85000" lnSpcReduction="10000"/>
          </a:bodyPr>
          <a:lstStyle/>
          <a:p>
            <a:r>
              <a:rPr lang="en-IN" sz="2200" dirty="0"/>
              <a:t>The analysis is based on the </a:t>
            </a:r>
            <a:r>
              <a:rPr lang="en-IN" sz="2200" b="1" dirty="0"/>
              <a:t>Netflix Movies &amp; TV Shows</a:t>
            </a:r>
            <a:r>
              <a:rPr lang="en-IN" sz="2200" dirty="0"/>
              <a:t> dataset, which contains detailed information about movies and TV shows available on Netflix. The dataset provides metadata that helps </a:t>
            </a:r>
            <a:r>
              <a:rPr lang="en-IN" sz="2200" dirty="0" err="1"/>
              <a:t>analyze</a:t>
            </a:r>
            <a:r>
              <a:rPr lang="en-IN" sz="2200" dirty="0"/>
              <a:t> content distribution, release patterns, genres, ratings, and geographic trends</a:t>
            </a:r>
            <a:r>
              <a:rPr lang="en-IN" dirty="0"/>
              <a:t>.</a:t>
            </a:r>
          </a:p>
        </p:txBody>
      </p:sp>
      <p:graphicFrame>
        <p:nvGraphicFramePr>
          <p:cNvPr id="11" name="Content Placeholder 10">
            <a:extLst>
              <a:ext uri="{FF2B5EF4-FFF2-40B4-BE49-F238E27FC236}">
                <a16:creationId xmlns:a16="http://schemas.microsoft.com/office/drawing/2014/main" id="{7740FA22-77F7-7591-BFA2-C8730F0F2DBA}"/>
              </a:ext>
            </a:extLst>
          </p:cNvPr>
          <p:cNvGraphicFramePr>
            <a:graphicFrameLocks noGrp="1"/>
          </p:cNvGraphicFramePr>
          <p:nvPr>
            <p:ph sz="half" idx="2"/>
            <p:extLst>
              <p:ext uri="{D42A27DB-BD31-4B8C-83A1-F6EECF244321}">
                <p14:modId xmlns:p14="http://schemas.microsoft.com/office/powerpoint/2010/main" val="1456810022"/>
              </p:ext>
            </p:extLst>
          </p:nvPr>
        </p:nvGraphicFramePr>
        <p:xfrm>
          <a:off x="7552707" y="3103459"/>
          <a:ext cx="4422054" cy="1994570"/>
        </p:xfrm>
        <a:graphic>
          <a:graphicData uri="http://schemas.openxmlformats.org/drawingml/2006/table">
            <a:tbl>
              <a:tblPr>
                <a:tableStyleId>{35758FB7-9AC5-4552-8A53-C91805E547FA}</a:tableStyleId>
              </a:tblPr>
              <a:tblGrid>
                <a:gridCol w="2211027">
                  <a:extLst>
                    <a:ext uri="{9D8B030D-6E8A-4147-A177-3AD203B41FA5}">
                      <a16:colId xmlns:a16="http://schemas.microsoft.com/office/drawing/2014/main" val="971766608"/>
                    </a:ext>
                  </a:extLst>
                </a:gridCol>
                <a:gridCol w="2211027">
                  <a:extLst>
                    <a:ext uri="{9D8B030D-6E8A-4147-A177-3AD203B41FA5}">
                      <a16:colId xmlns:a16="http://schemas.microsoft.com/office/drawing/2014/main" val="2302953642"/>
                    </a:ext>
                  </a:extLst>
                </a:gridCol>
              </a:tblGrid>
              <a:tr h="398914">
                <a:tc>
                  <a:txBody>
                    <a:bodyPr/>
                    <a:lstStyle/>
                    <a:p>
                      <a:pPr>
                        <a:buNone/>
                      </a:pPr>
                      <a:r>
                        <a:rPr lang="en-IN" sz="1800" dirty="0"/>
                        <a:t>Metric</a:t>
                      </a:r>
                    </a:p>
                  </a:txBody>
                  <a:tcPr marL="42170" marR="42170" marT="21085" marB="21085" anchor="ctr"/>
                </a:tc>
                <a:tc>
                  <a:txBody>
                    <a:bodyPr/>
                    <a:lstStyle/>
                    <a:p>
                      <a:pPr algn="r">
                        <a:buNone/>
                      </a:pPr>
                      <a:r>
                        <a:rPr lang="en-IN" sz="1800"/>
                        <a:t>Value</a:t>
                      </a:r>
                    </a:p>
                  </a:txBody>
                  <a:tcPr marL="42170" marR="42170" marT="21085" marB="21085" anchor="ctr"/>
                </a:tc>
                <a:extLst>
                  <a:ext uri="{0D108BD9-81ED-4DB2-BD59-A6C34878D82A}">
                    <a16:rowId xmlns:a16="http://schemas.microsoft.com/office/drawing/2014/main" val="3994467685"/>
                  </a:ext>
                </a:extLst>
              </a:tr>
              <a:tr h="398914">
                <a:tc>
                  <a:txBody>
                    <a:bodyPr/>
                    <a:lstStyle/>
                    <a:p>
                      <a:pPr>
                        <a:buNone/>
                      </a:pPr>
                      <a:r>
                        <a:rPr lang="en-IN" sz="1800"/>
                        <a:t>Total Records</a:t>
                      </a:r>
                    </a:p>
                  </a:txBody>
                  <a:tcPr marL="42170" marR="42170" marT="21085" marB="21085" anchor="ctr"/>
                </a:tc>
                <a:tc>
                  <a:txBody>
                    <a:bodyPr/>
                    <a:lstStyle/>
                    <a:p>
                      <a:pPr algn="r">
                        <a:buNone/>
                      </a:pPr>
                      <a:r>
                        <a:rPr lang="en-IN" sz="1800" dirty="0"/>
                        <a:t>8,807</a:t>
                      </a:r>
                    </a:p>
                  </a:txBody>
                  <a:tcPr marL="42170" marR="42170" marT="21085" marB="21085" anchor="ctr"/>
                </a:tc>
                <a:extLst>
                  <a:ext uri="{0D108BD9-81ED-4DB2-BD59-A6C34878D82A}">
                    <a16:rowId xmlns:a16="http://schemas.microsoft.com/office/drawing/2014/main" val="1934045146"/>
                  </a:ext>
                </a:extLst>
              </a:tr>
              <a:tr h="398914">
                <a:tc>
                  <a:txBody>
                    <a:bodyPr/>
                    <a:lstStyle/>
                    <a:p>
                      <a:pPr>
                        <a:buNone/>
                      </a:pPr>
                      <a:r>
                        <a:rPr lang="en-IN" sz="1800" dirty="0"/>
                        <a:t>Total Features</a:t>
                      </a:r>
                    </a:p>
                  </a:txBody>
                  <a:tcPr marL="42170" marR="42170" marT="21085" marB="21085" anchor="ctr"/>
                </a:tc>
                <a:tc>
                  <a:txBody>
                    <a:bodyPr/>
                    <a:lstStyle/>
                    <a:p>
                      <a:pPr algn="r">
                        <a:buNone/>
                      </a:pPr>
                      <a:r>
                        <a:rPr lang="en-IN" sz="1800" dirty="0"/>
                        <a:t>12</a:t>
                      </a:r>
                    </a:p>
                  </a:txBody>
                  <a:tcPr marL="42170" marR="42170" marT="21085" marB="21085" anchor="ctr"/>
                </a:tc>
                <a:extLst>
                  <a:ext uri="{0D108BD9-81ED-4DB2-BD59-A6C34878D82A}">
                    <a16:rowId xmlns:a16="http://schemas.microsoft.com/office/drawing/2014/main" val="1034642069"/>
                  </a:ext>
                </a:extLst>
              </a:tr>
              <a:tr h="398914">
                <a:tc>
                  <a:txBody>
                    <a:bodyPr/>
                    <a:lstStyle/>
                    <a:p>
                      <a:pPr>
                        <a:buNone/>
                      </a:pPr>
                      <a:r>
                        <a:rPr lang="en-IN" sz="1800"/>
                        <a:t>File Format</a:t>
                      </a:r>
                    </a:p>
                  </a:txBody>
                  <a:tcPr marL="42170" marR="42170" marT="21085" marB="21085" anchor="ctr"/>
                </a:tc>
                <a:tc>
                  <a:txBody>
                    <a:bodyPr/>
                    <a:lstStyle/>
                    <a:p>
                      <a:pPr algn="r">
                        <a:buNone/>
                      </a:pPr>
                      <a:r>
                        <a:rPr lang="en-IN" sz="1800" dirty="0"/>
                        <a:t>CSV</a:t>
                      </a:r>
                    </a:p>
                  </a:txBody>
                  <a:tcPr marL="42170" marR="42170" marT="21085" marB="21085" anchor="ctr"/>
                </a:tc>
                <a:extLst>
                  <a:ext uri="{0D108BD9-81ED-4DB2-BD59-A6C34878D82A}">
                    <a16:rowId xmlns:a16="http://schemas.microsoft.com/office/drawing/2014/main" val="4151106694"/>
                  </a:ext>
                </a:extLst>
              </a:tr>
              <a:tr h="398914">
                <a:tc>
                  <a:txBody>
                    <a:bodyPr/>
                    <a:lstStyle/>
                    <a:p>
                      <a:pPr>
                        <a:buNone/>
                      </a:pPr>
                      <a:r>
                        <a:rPr lang="en-IN" sz="1800"/>
                        <a:t>Data Source</a:t>
                      </a:r>
                    </a:p>
                  </a:txBody>
                  <a:tcPr marL="42170" marR="42170" marT="21085" marB="21085" anchor="ctr"/>
                </a:tc>
                <a:tc>
                  <a:txBody>
                    <a:bodyPr/>
                    <a:lstStyle/>
                    <a:p>
                      <a:pPr algn="r">
                        <a:buNone/>
                      </a:pPr>
                      <a:r>
                        <a:rPr lang="en-IN" sz="1800" dirty="0"/>
                        <a:t>Kaggle</a:t>
                      </a:r>
                    </a:p>
                  </a:txBody>
                  <a:tcPr marL="42170" marR="42170" marT="21085" marB="21085" anchor="ctr"/>
                </a:tc>
                <a:extLst>
                  <a:ext uri="{0D108BD9-81ED-4DB2-BD59-A6C34878D82A}">
                    <a16:rowId xmlns:a16="http://schemas.microsoft.com/office/drawing/2014/main" val="289252043"/>
                  </a:ext>
                </a:extLst>
              </a:tr>
            </a:tbl>
          </a:graphicData>
        </a:graphic>
      </p:graphicFrame>
      <p:sp>
        <p:nvSpPr>
          <p:cNvPr id="5" name="TextBox 4">
            <a:extLst>
              <a:ext uri="{FF2B5EF4-FFF2-40B4-BE49-F238E27FC236}">
                <a16:creationId xmlns:a16="http://schemas.microsoft.com/office/drawing/2014/main" id="{E48BC6D6-D352-43FB-2153-DF68862953BF}"/>
              </a:ext>
            </a:extLst>
          </p:cNvPr>
          <p:cNvSpPr txBox="1"/>
          <p:nvPr/>
        </p:nvSpPr>
        <p:spPr>
          <a:xfrm>
            <a:off x="1097280" y="3692343"/>
            <a:ext cx="6003769" cy="1323439"/>
          </a:xfrm>
          <a:prstGeom prst="rect">
            <a:avLst/>
          </a:prstGeom>
          <a:noFill/>
        </p:spPr>
        <p:txBody>
          <a:bodyPr wrap="square">
            <a:spAutoFit/>
          </a:bodyPr>
          <a:lstStyle/>
          <a:p>
            <a:pPr>
              <a:buNone/>
            </a:pPr>
            <a:r>
              <a:rPr lang="en-IN" sz="1600" b="1" dirty="0"/>
              <a:t>Dataset Information</a:t>
            </a:r>
          </a:p>
          <a:p>
            <a:pPr>
              <a:buFont typeface="Arial" panose="020B0604020202020204" pitchFamily="34" charset="0"/>
              <a:buChar char="•"/>
            </a:pPr>
            <a:r>
              <a:rPr lang="en-IN" sz="1600" b="1" dirty="0"/>
              <a:t>Source:</a:t>
            </a:r>
            <a:r>
              <a:rPr lang="en-IN" sz="1600" dirty="0"/>
              <a:t> Kaggle – Netflix Movies &amp; TV Shows Dataset </a:t>
            </a:r>
          </a:p>
          <a:p>
            <a:pPr>
              <a:buFont typeface="Arial" panose="020B0604020202020204" pitchFamily="34" charset="0"/>
              <a:buChar char="•"/>
            </a:pPr>
            <a:r>
              <a:rPr lang="en-IN" sz="1600" b="1" dirty="0"/>
              <a:t>Records:</a:t>
            </a:r>
            <a:r>
              <a:rPr lang="en-IN" sz="1600" dirty="0"/>
              <a:t> </a:t>
            </a:r>
            <a:r>
              <a:rPr lang="en-IN" sz="1600" b="1" dirty="0"/>
              <a:t>8,807</a:t>
            </a:r>
            <a:r>
              <a:rPr lang="en-IN" sz="1600" dirty="0"/>
              <a:t> </a:t>
            </a:r>
          </a:p>
          <a:p>
            <a:pPr>
              <a:buFont typeface="Arial" panose="020B0604020202020204" pitchFamily="34" charset="0"/>
              <a:buChar char="•"/>
            </a:pPr>
            <a:r>
              <a:rPr lang="en-IN" sz="1600" b="1" dirty="0"/>
              <a:t>Features:</a:t>
            </a:r>
            <a:r>
              <a:rPr lang="en-IN" sz="1600" dirty="0"/>
              <a:t> </a:t>
            </a:r>
            <a:r>
              <a:rPr lang="en-IN" sz="1600" b="1" dirty="0"/>
              <a:t>12</a:t>
            </a:r>
            <a:r>
              <a:rPr lang="en-IN" sz="1600" dirty="0"/>
              <a:t> </a:t>
            </a:r>
          </a:p>
          <a:p>
            <a:pPr>
              <a:buFont typeface="Arial" panose="020B0604020202020204" pitchFamily="34" charset="0"/>
              <a:buChar char="•"/>
            </a:pPr>
            <a:r>
              <a:rPr lang="en-IN" sz="1600" b="1" dirty="0"/>
              <a:t>Format:</a:t>
            </a:r>
            <a:r>
              <a:rPr lang="en-IN" sz="1600" dirty="0"/>
              <a:t> CSV</a:t>
            </a:r>
          </a:p>
        </p:txBody>
      </p:sp>
      <p:sp>
        <p:nvSpPr>
          <p:cNvPr id="7" name="TextBox 6">
            <a:extLst>
              <a:ext uri="{FF2B5EF4-FFF2-40B4-BE49-F238E27FC236}">
                <a16:creationId xmlns:a16="http://schemas.microsoft.com/office/drawing/2014/main" id="{6B918286-A278-A571-7AD0-B3C225B7D14C}"/>
              </a:ext>
            </a:extLst>
          </p:cNvPr>
          <p:cNvSpPr txBox="1"/>
          <p:nvPr/>
        </p:nvSpPr>
        <p:spPr>
          <a:xfrm>
            <a:off x="1085800" y="5098029"/>
            <a:ext cx="3942608" cy="338554"/>
          </a:xfrm>
          <a:prstGeom prst="rect">
            <a:avLst/>
          </a:prstGeom>
          <a:noFill/>
        </p:spPr>
        <p:txBody>
          <a:bodyPr wrap="square">
            <a:spAutoFit/>
          </a:bodyPr>
          <a:lstStyle/>
          <a:p>
            <a:pPr>
              <a:buNone/>
            </a:pPr>
            <a:r>
              <a:rPr lang="en-IN" sz="1600" b="1" dirty="0"/>
              <a:t>Key Attributes</a:t>
            </a:r>
          </a:p>
        </p:txBody>
      </p:sp>
      <p:sp>
        <p:nvSpPr>
          <p:cNvPr id="10" name="TextBox 9">
            <a:extLst>
              <a:ext uri="{FF2B5EF4-FFF2-40B4-BE49-F238E27FC236}">
                <a16:creationId xmlns:a16="http://schemas.microsoft.com/office/drawing/2014/main" id="{D6A98DCF-ED4E-24E5-E2F8-B4E460826D2A}"/>
              </a:ext>
            </a:extLst>
          </p:cNvPr>
          <p:cNvSpPr txBox="1"/>
          <p:nvPr/>
        </p:nvSpPr>
        <p:spPr>
          <a:xfrm>
            <a:off x="1036320" y="5436583"/>
            <a:ext cx="5059680" cy="584775"/>
          </a:xfrm>
          <a:prstGeom prst="rect">
            <a:avLst/>
          </a:prstGeom>
          <a:noFill/>
        </p:spPr>
        <p:txBody>
          <a:bodyPr wrap="square">
            <a:spAutoFit/>
          </a:bodyPr>
          <a:lstStyle/>
          <a:p>
            <a:r>
              <a:rPr lang="en-IN" sz="1600" dirty="0"/>
              <a:t>Show ID, Title, Type, Director, Cast, Country, Date Added, Release Year, Rating, Duration, Genre &amp; Description.</a:t>
            </a:r>
          </a:p>
        </p:txBody>
      </p:sp>
    </p:spTree>
    <p:extLst>
      <p:ext uri="{BB962C8B-B14F-4D97-AF65-F5344CB8AC3E}">
        <p14:creationId xmlns:p14="http://schemas.microsoft.com/office/powerpoint/2010/main" val="3264804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8B682-2429-89F8-6085-00A76BFEED3A}"/>
              </a:ext>
            </a:extLst>
          </p:cNvPr>
          <p:cNvSpPr>
            <a:spLocks noGrp="1"/>
          </p:cNvSpPr>
          <p:nvPr>
            <p:ph type="title"/>
          </p:nvPr>
        </p:nvSpPr>
        <p:spPr/>
        <p:txBody>
          <a:bodyPr/>
          <a:lstStyle/>
          <a:p>
            <a:r>
              <a:rPr lang="en-IN" dirty="0"/>
              <a:t>Data Cleaning</a:t>
            </a:r>
          </a:p>
        </p:txBody>
      </p:sp>
      <p:sp>
        <p:nvSpPr>
          <p:cNvPr id="3" name="Content Placeholder 2">
            <a:extLst>
              <a:ext uri="{FF2B5EF4-FFF2-40B4-BE49-F238E27FC236}">
                <a16:creationId xmlns:a16="http://schemas.microsoft.com/office/drawing/2014/main" id="{F8975E95-4093-44DE-C8BB-F3E9B215F962}"/>
              </a:ext>
            </a:extLst>
          </p:cNvPr>
          <p:cNvSpPr>
            <a:spLocks noGrp="1"/>
          </p:cNvSpPr>
          <p:nvPr>
            <p:ph sz="half" idx="1"/>
          </p:nvPr>
        </p:nvSpPr>
        <p:spPr>
          <a:xfrm>
            <a:off x="1097280" y="2120901"/>
            <a:ext cx="4639736" cy="1073562"/>
          </a:xfrm>
        </p:spPr>
        <p:txBody>
          <a:bodyPr>
            <a:normAutofit/>
          </a:bodyPr>
          <a:lstStyle/>
          <a:p>
            <a:r>
              <a:rPr lang="en-IN" sz="1600" dirty="0"/>
              <a:t>Data cleaning was performed to improve the quality and reliability of the dataset before analysis.</a:t>
            </a:r>
          </a:p>
        </p:txBody>
      </p:sp>
      <p:pic>
        <p:nvPicPr>
          <p:cNvPr id="10" name="Content Placeholder 9">
            <a:extLst>
              <a:ext uri="{FF2B5EF4-FFF2-40B4-BE49-F238E27FC236}">
                <a16:creationId xmlns:a16="http://schemas.microsoft.com/office/drawing/2014/main" id="{DA55E9BC-2420-DF90-D646-DF9612D2BD03}"/>
              </a:ext>
            </a:extLst>
          </p:cNvPr>
          <p:cNvPicPr>
            <a:picLocks noGrp="1" noChangeAspect="1"/>
          </p:cNvPicPr>
          <p:nvPr>
            <p:ph sz="half" idx="2"/>
          </p:nvPr>
        </p:nvPicPr>
        <p:blipFill>
          <a:blip r:embed="rId2"/>
          <a:stretch>
            <a:fillRect/>
          </a:stretch>
        </p:blipFill>
        <p:spPr>
          <a:xfrm>
            <a:off x="7105818" y="2109027"/>
            <a:ext cx="3417443" cy="1788924"/>
          </a:xfrm>
          <a:prstGeom prst="rect">
            <a:avLst/>
          </a:prstGeom>
        </p:spPr>
      </p:pic>
      <p:sp>
        <p:nvSpPr>
          <p:cNvPr id="6" name="TextBox 5">
            <a:extLst>
              <a:ext uri="{FF2B5EF4-FFF2-40B4-BE49-F238E27FC236}">
                <a16:creationId xmlns:a16="http://schemas.microsoft.com/office/drawing/2014/main" id="{D6DA7F5E-3AF2-DA65-2D63-9F4F68A096FF}"/>
              </a:ext>
            </a:extLst>
          </p:cNvPr>
          <p:cNvSpPr txBox="1"/>
          <p:nvPr/>
        </p:nvSpPr>
        <p:spPr>
          <a:xfrm>
            <a:off x="1036320" y="2786375"/>
            <a:ext cx="5059680" cy="1569660"/>
          </a:xfrm>
          <a:prstGeom prst="rect">
            <a:avLst/>
          </a:prstGeom>
          <a:noFill/>
        </p:spPr>
        <p:txBody>
          <a:bodyPr wrap="square">
            <a:spAutoFit/>
          </a:bodyPr>
          <a:lstStyle/>
          <a:p>
            <a:pPr>
              <a:buNone/>
            </a:pPr>
            <a:r>
              <a:rPr lang="en-IN" sz="1600" b="1" dirty="0"/>
              <a:t>Data Cleaning Process</a:t>
            </a:r>
          </a:p>
          <a:p>
            <a:pPr>
              <a:buFont typeface="Arial" panose="020B0604020202020204" pitchFamily="34" charset="0"/>
              <a:buChar char="•"/>
            </a:pPr>
            <a:r>
              <a:rPr lang="en-IN" sz="1600" dirty="0"/>
              <a:t>Checked dataset structure and data types. </a:t>
            </a:r>
          </a:p>
          <a:p>
            <a:pPr>
              <a:buFont typeface="Arial" panose="020B0604020202020204" pitchFamily="34" charset="0"/>
              <a:buChar char="•"/>
            </a:pPr>
            <a:r>
              <a:rPr lang="en-IN" sz="1600" dirty="0"/>
              <a:t>Identified missing values across columns. </a:t>
            </a:r>
          </a:p>
          <a:p>
            <a:pPr>
              <a:buFont typeface="Arial" panose="020B0604020202020204" pitchFamily="34" charset="0"/>
              <a:buChar char="•"/>
            </a:pPr>
            <a:r>
              <a:rPr lang="en-IN" sz="1600" dirty="0"/>
              <a:t>Removed duplicate records. </a:t>
            </a:r>
          </a:p>
          <a:p>
            <a:pPr>
              <a:buFont typeface="Arial" panose="020B0604020202020204" pitchFamily="34" charset="0"/>
              <a:buChar char="•"/>
            </a:pPr>
            <a:r>
              <a:rPr lang="en-IN" sz="1600" dirty="0"/>
              <a:t>Converted the </a:t>
            </a:r>
            <a:r>
              <a:rPr lang="en-IN" sz="1600" b="1" dirty="0"/>
              <a:t>Date Added</a:t>
            </a:r>
            <a:r>
              <a:rPr lang="en-IN" sz="1600" dirty="0"/>
              <a:t> column to datetime format. </a:t>
            </a:r>
          </a:p>
          <a:p>
            <a:pPr>
              <a:buFont typeface="Arial" panose="020B0604020202020204" pitchFamily="34" charset="0"/>
              <a:buChar char="•"/>
            </a:pPr>
            <a:r>
              <a:rPr lang="en-IN" sz="1600" dirty="0"/>
              <a:t>Verified data consistency for analysis.</a:t>
            </a:r>
          </a:p>
        </p:txBody>
      </p:sp>
      <p:sp>
        <p:nvSpPr>
          <p:cNvPr id="8" name="TextBox 7">
            <a:extLst>
              <a:ext uri="{FF2B5EF4-FFF2-40B4-BE49-F238E27FC236}">
                <a16:creationId xmlns:a16="http://schemas.microsoft.com/office/drawing/2014/main" id="{F3A4FC19-78C9-527B-4FC2-DBFB7BB40585}"/>
              </a:ext>
            </a:extLst>
          </p:cNvPr>
          <p:cNvSpPr txBox="1"/>
          <p:nvPr/>
        </p:nvSpPr>
        <p:spPr>
          <a:xfrm>
            <a:off x="1036320" y="4356035"/>
            <a:ext cx="5328854" cy="1569660"/>
          </a:xfrm>
          <a:prstGeom prst="rect">
            <a:avLst/>
          </a:prstGeom>
          <a:noFill/>
        </p:spPr>
        <p:txBody>
          <a:bodyPr wrap="square">
            <a:spAutoFit/>
          </a:bodyPr>
          <a:lstStyle/>
          <a:p>
            <a:pPr>
              <a:buNone/>
            </a:pPr>
            <a:r>
              <a:rPr lang="en-IN" sz="1600" b="1" dirty="0"/>
              <a:t>Outcome</a:t>
            </a:r>
          </a:p>
          <a:p>
            <a:pPr>
              <a:buFont typeface="Arial" panose="020B0604020202020204" pitchFamily="34" charset="0"/>
              <a:buChar char="•"/>
            </a:pPr>
            <a:r>
              <a:rPr lang="en-IN" sz="1600" dirty="0"/>
              <a:t>Clean and structured dataset. </a:t>
            </a:r>
          </a:p>
          <a:p>
            <a:pPr>
              <a:buFont typeface="Arial" panose="020B0604020202020204" pitchFamily="34" charset="0"/>
              <a:buChar char="•"/>
            </a:pPr>
            <a:r>
              <a:rPr lang="en-IN" sz="1600" dirty="0"/>
              <a:t>Accurate date formatting for time-based analysis. </a:t>
            </a:r>
          </a:p>
          <a:p>
            <a:pPr>
              <a:buFont typeface="Arial" panose="020B0604020202020204" pitchFamily="34" charset="0"/>
              <a:buChar char="•"/>
            </a:pPr>
            <a:r>
              <a:rPr lang="en-IN" sz="1600" dirty="0"/>
              <a:t>Improved data quality for visualization and business insights. </a:t>
            </a:r>
          </a:p>
          <a:p>
            <a:pPr>
              <a:buFont typeface="Arial" panose="020B0604020202020204" pitchFamily="34" charset="0"/>
              <a:buChar char="•"/>
            </a:pPr>
            <a:r>
              <a:rPr lang="en-IN" sz="1600" dirty="0"/>
              <a:t>Dataset prepared for Exploratory Data Analysis (EDA).</a:t>
            </a:r>
          </a:p>
        </p:txBody>
      </p:sp>
      <p:pic>
        <p:nvPicPr>
          <p:cNvPr id="12" name="Picture 11">
            <a:extLst>
              <a:ext uri="{FF2B5EF4-FFF2-40B4-BE49-F238E27FC236}">
                <a16:creationId xmlns:a16="http://schemas.microsoft.com/office/drawing/2014/main" id="{0EA800CF-0134-9959-64CF-CE30DDF9D17B}"/>
              </a:ext>
            </a:extLst>
          </p:cNvPr>
          <p:cNvPicPr>
            <a:picLocks noChangeAspect="1"/>
          </p:cNvPicPr>
          <p:nvPr/>
        </p:nvPicPr>
        <p:blipFill>
          <a:blip r:embed="rId3"/>
          <a:stretch>
            <a:fillRect/>
          </a:stretch>
        </p:blipFill>
        <p:spPr>
          <a:xfrm>
            <a:off x="6927689" y="4065159"/>
            <a:ext cx="3781623" cy="2110963"/>
          </a:xfrm>
          <a:prstGeom prst="rect">
            <a:avLst/>
          </a:prstGeom>
        </p:spPr>
      </p:pic>
    </p:spTree>
    <p:extLst>
      <p:ext uri="{BB962C8B-B14F-4D97-AF65-F5344CB8AC3E}">
        <p14:creationId xmlns:p14="http://schemas.microsoft.com/office/powerpoint/2010/main" val="4207862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887AD-1011-BE51-CC80-DE1DACCE0AA7}"/>
              </a:ext>
            </a:extLst>
          </p:cNvPr>
          <p:cNvSpPr>
            <a:spLocks noGrp="1"/>
          </p:cNvSpPr>
          <p:nvPr>
            <p:ph type="title"/>
          </p:nvPr>
        </p:nvSpPr>
        <p:spPr/>
        <p:txBody>
          <a:bodyPr/>
          <a:lstStyle/>
          <a:p>
            <a:r>
              <a:rPr lang="en-IN" dirty="0"/>
              <a:t>Exploratory Data Analysis (EDA)</a:t>
            </a:r>
          </a:p>
        </p:txBody>
      </p:sp>
      <p:sp>
        <p:nvSpPr>
          <p:cNvPr id="3" name="Content Placeholder 2">
            <a:extLst>
              <a:ext uri="{FF2B5EF4-FFF2-40B4-BE49-F238E27FC236}">
                <a16:creationId xmlns:a16="http://schemas.microsoft.com/office/drawing/2014/main" id="{B35F5E5A-EDF6-CDFF-03EB-B2BE1345D113}"/>
              </a:ext>
            </a:extLst>
          </p:cNvPr>
          <p:cNvSpPr>
            <a:spLocks noGrp="1"/>
          </p:cNvSpPr>
          <p:nvPr>
            <p:ph sz="half" idx="1"/>
          </p:nvPr>
        </p:nvSpPr>
        <p:spPr>
          <a:xfrm>
            <a:off x="1097280" y="2120901"/>
            <a:ext cx="6075416" cy="657926"/>
          </a:xfrm>
        </p:spPr>
        <p:txBody>
          <a:bodyPr>
            <a:normAutofit/>
          </a:bodyPr>
          <a:lstStyle/>
          <a:p>
            <a:r>
              <a:rPr lang="en-IN" sz="1600" dirty="0"/>
              <a:t>EDA was conducted to identify trends, patterns, and </a:t>
            </a:r>
            <a:r>
              <a:rPr lang="en-IN" sz="1800" dirty="0"/>
              <a:t>relationships</a:t>
            </a:r>
            <a:r>
              <a:rPr lang="en-IN" sz="1600" dirty="0"/>
              <a:t> within Netflix's content library through data visualization.</a:t>
            </a:r>
          </a:p>
        </p:txBody>
      </p:sp>
      <p:pic>
        <p:nvPicPr>
          <p:cNvPr id="10" name="Content Placeholder 9">
            <a:extLst>
              <a:ext uri="{FF2B5EF4-FFF2-40B4-BE49-F238E27FC236}">
                <a16:creationId xmlns:a16="http://schemas.microsoft.com/office/drawing/2014/main" id="{DFA33358-C198-79C2-C5B9-9AACA934F6BB}"/>
              </a:ext>
            </a:extLst>
          </p:cNvPr>
          <p:cNvPicPr>
            <a:picLocks noGrp="1" noChangeAspect="1"/>
          </p:cNvPicPr>
          <p:nvPr>
            <p:ph sz="half" idx="2"/>
          </p:nvPr>
        </p:nvPicPr>
        <p:blipFill>
          <a:blip r:embed="rId2"/>
          <a:stretch>
            <a:fillRect/>
          </a:stretch>
        </p:blipFill>
        <p:spPr>
          <a:xfrm>
            <a:off x="7012074" y="2051721"/>
            <a:ext cx="2131926" cy="2190477"/>
          </a:xfrm>
          <a:prstGeom prst="rect">
            <a:avLst/>
          </a:prstGeom>
        </p:spPr>
      </p:pic>
      <p:sp>
        <p:nvSpPr>
          <p:cNvPr id="6" name="TextBox 5">
            <a:extLst>
              <a:ext uri="{FF2B5EF4-FFF2-40B4-BE49-F238E27FC236}">
                <a16:creationId xmlns:a16="http://schemas.microsoft.com/office/drawing/2014/main" id="{750516AB-AFB4-4E57-9E42-2DCCB6FFDD7D}"/>
              </a:ext>
            </a:extLst>
          </p:cNvPr>
          <p:cNvSpPr txBox="1"/>
          <p:nvPr/>
        </p:nvSpPr>
        <p:spPr>
          <a:xfrm>
            <a:off x="1002551" y="2841814"/>
            <a:ext cx="5303519" cy="2800767"/>
          </a:xfrm>
          <a:prstGeom prst="rect">
            <a:avLst/>
          </a:prstGeom>
          <a:noFill/>
        </p:spPr>
        <p:txBody>
          <a:bodyPr wrap="square">
            <a:spAutoFit/>
          </a:bodyPr>
          <a:lstStyle/>
          <a:p>
            <a:pPr>
              <a:buNone/>
            </a:pPr>
            <a:r>
              <a:rPr lang="en-IN" sz="1600" b="1" dirty="0"/>
              <a:t>Visualizations Performed</a:t>
            </a:r>
          </a:p>
          <a:p>
            <a:pPr>
              <a:buFont typeface="Arial" panose="020B0604020202020204" pitchFamily="34" charset="0"/>
              <a:buChar char="•"/>
            </a:pPr>
            <a:r>
              <a:rPr lang="en-IN" sz="1600" dirty="0"/>
              <a:t>Content Distribution (Movies vs TV Shows) </a:t>
            </a:r>
          </a:p>
          <a:p>
            <a:pPr>
              <a:buFont typeface="Arial" panose="020B0604020202020204" pitchFamily="34" charset="0"/>
              <a:buChar char="•"/>
            </a:pPr>
            <a:r>
              <a:rPr lang="en-IN" sz="1600" dirty="0"/>
              <a:t>Top 10 Content-Producing Countries </a:t>
            </a:r>
          </a:p>
          <a:p>
            <a:pPr>
              <a:buFont typeface="Arial" panose="020B0604020202020204" pitchFamily="34" charset="0"/>
              <a:buChar char="•"/>
            </a:pPr>
            <a:r>
              <a:rPr lang="en-IN" sz="1600" dirty="0"/>
              <a:t>Content Ratings Distribution </a:t>
            </a:r>
          </a:p>
          <a:p>
            <a:pPr>
              <a:buFont typeface="Arial" panose="020B0604020202020204" pitchFamily="34" charset="0"/>
              <a:buChar char="•"/>
            </a:pPr>
            <a:r>
              <a:rPr lang="en-IN" sz="1600" dirty="0"/>
              <a:t>Content Added Over Time </a:t>
            </a:r>
          </a:p>
          <a:p>
            <a:pPr>
              <a:buFont typeface="Arial" panose="020B0604020202020204" pitchFamily="34" charset="0"/>
              <a:buChar char="•"/>
            </a:pPr>
            <a:r>
              <a:rPr lang="en-IN" sz="1600" dirty="0"/>
              <a:t>Release Year Trend </a:t>
            </a:r>
          </a:p>
          <a:p>
            <a:pPr>
              <a:buFont typeface="Arial" panose="020B0604020202020204" pitchFamily="34" charset="0"/>
              <a:buChar char="•"/>
            </a:pPr>
            <a:r>
              <a:rPr lang="en-IN" sz="1600" dirty="0"/>
              <a:t>Top 10 Genres </a:t>
            </a:r>
          </a:p>
          <a:p>
            <a:pPr>
              <a:buFont typeface="Arial" panose="020B0604020202020204" pitchFamily="34" charset="0"/>
              <a:buChar char="•"/>
            </a:pPr>
            <a:r>
              <a:rPr lang="en-IN" sz="1600" dirty="0"/>
              <a:t>Top 10 Directors </a:t>
            </a:r>
          </a:p>
          <a:p>
            <a:pPr>
              <a:buFont typeface="Arial" panose="020B0604020202020204" pitchFamily="34" charset="0"/>
              <a:buChar char="•"/>
            </a:pPr>
            <a:r>
              <a:rPr lang="en-IN" sz="1600" dirty="0"/>
              <a:t>Movie Duration Distribution </a:t>
            </a:r>
          </a:p>
          <a:p>
            <a:pPr>
              <a:buFont typeface="Arial" panose="020B0604020202020204" pitchFamily="34" charset="0"/>
              <a:buChar char="•"/>
            </a:pPr>
            <a:r>
              <a:rPr lang="en-IN" sz="1600" dirty="0"/>
              <a:t>Top Release Years </a:t>
            </a:r>
          </a:p>
          <a:p>
            <a:pPr>
              <a:buFont typeface="Arial" panose="020B0604020202020204" pitchFamily="34" charset="0"/>
              <a:buChar char="•"/>
            </a:pPr>
            <a:r>
              <a:rPr lang="en-IN" sz="1600" dirty="0"/>
              <a:t>Content Type Distribution</a:t>
            </a:r>
          </a:p>
        </p:txBody>
      </p:sp>
      <p:sp>
        <p:nvSpPr>
          <p:cNvPr id="8" name="TextBox 7">
            <a:extLst>
              <a:ext uri="{FF2B5EF4-FFF2-40B4-BE49-F238E27FC236}">
                <a16:creationId xmlns:a16="http://schemas.microsoft.com/office/drawing/2014/main" id="{A3FCF5DF-B60B-60A3-08C8-5772EE30AAF8}"/>
              </a:ext>
            </a:extLst>
          </p:cNvPr>
          <p:cNvSpPr txBox="1"/>
          <p:nvPr/>
        </p:nvSpPr>
        <p:spPr>
          <a:xfrm>
            <a:off x="1106209" y="5926163"/>
            <a:ext cx="5294590" cy="276999"/>
          </a:xfrm>
          <a:prstGeom prst="rect">
            <a:avLst/>
          </a:prstGeom>
          <a:noFill/>
        </p:spPr>
        <p:txBody>
          <a:bodyPr wrap="square">
            <a:spAutoFit/>
          </a:bodyPr>
          <a:lstStyle/>
          <a:p>
            <a:pPr>
              <a:buNone/>
            </a:pPr>
            <a:r>
              <a:rPr lang="en-IN" sz="1200" dirty="0"/>
              <a:t>Content Type • Countries • Ratings • Release Trends • Genres • Directors</a:t>
            </a:r>
          </a:p>
        </p:txBody>
      </p:sp>
      <p:pic>
        <p:nvPicPr>
          <p:cNvPr id="12" name="Picture 11">
            <a:extLst>
              <a:ext uri="{FF2B5EF4-FFF2-40B4-BE49-F238E27FC236}">
                <a16:creationId xmlns:a16="http://schemas.microsoft.com/office/drawing/2014/main" id="{F0BD3E51-89EA-36BF-366D-CD1539A01FC6}"/>
              </a:ext>
            </a:extLst>
          </p:cNvPr>
          <p:cNvPicPr>
            <a:picLocks noChangeAspect="1"/>
          </p:cNvPicPr>
          <p:nvPr/>
        </p:nvPicPr>
        <p:blipFill>
          <a:blip r:embed="rId3"/>
          <a:stretch>
            <a:fillRect/>
          </a:stretch>
        </p:blipFill>
        <p:spPr>
          <a:xfrm>
            <a:off x="9206472" y="2234025"/>
            <a:ext cx="2425172" cy="1825871"/>
          </a:xfrm>
          <a:prstGeom prst="rect">
            <a:avLst/>
          </a:prstGeom>
        </p:spPr>
      </p:pic>
      <p:pic>
        <p:nvPicPr>
          <p:cNvPr id="14" name="Picture 13">
            <a:extLst>
              <a:ext uri="{FF2B5EF4-FFF2-40B4-BE49-F238E27FC236}">
                <a16:creationId xmlns:a16="http://schemas.microsoft.com/office/drawing/2014/main" id="{19AB610B-130D-E6FD-DE14-A5408F2652E5}"/>
              </a:ext>
            </a:extLst>
          </p:cNvPr>
          <p:cNvPicPr>
            <a:picLocks noChangeAspect="1"/>
          </p:cNvPicPr>
          <p:nvPr/>
        </p:nvPicPr>
        <p:blipFill>
          <a:blip r:embed="rId4"/>
          <a:stretch>
            <a:fillRect/>
          </a:stretch>
        </p:blipFill>
        <p:spPr>
          <a:xfrm>
            <a:off x="6611707" y="4311376"/>
            <a:ext cx="2594765" cy="1802152"/>
          </a:xfrm>
          <a:prstGeom prst="rect">
            <a:avLst/>
          </a:prstGeom>
        </p:spPr>
      </p:pic>
      <p:pic>
        <p:nvPicPr>
          <p:cNvPr id="16" name="Picture 15">
            <a:extLst>
              <a:ext uri="{FF2B5EF4-FFF2-40B4-BE49-F238E27FC236}">
                <a16:creationId xmlns:a16="http://schemas.microsoft.com/office/drawing/2014/main" id="{23D6972A-F7CF-DC22-2B6E-220F81430317}"/>
              </a:ext>
            </a:extLst>
          </p:cNvPr>
          <p:cNvPicPr>
            <a:picLocks noChangeAspect="1"/>
          </p:cNvPicPr>
          <p:nvPr/>
        </p:nvPicPr>
        <p:blipFill>
          <a:blip r:embed="rId5"/>
          <a:stretch>
            <a:fillRect/>
          </a:stretch>
        </p:blipFill>
        <p:spPr>
          <a:xfrm>
            <a:off x="9313152" y="4360242"/>
            <a:ext cx="2652779" cy="1704421"/>
          </a:xfrm>
          <a:prstGeom prst="rect">
            <a:avLst/>
          </a:prstGeom>
        </p:spPr>
      </p:pic>
      <p:sp>
        <p:nvSpPr>
          <p:cNvPr id="18" name="TextBox 17">
            <a:extLst>
              <a:ext uri="{FF2B5EF4-FFF2-40B4-BE49-F238E27FC236}">
                <a16:creationId xmlns:a16="http://schemas.microsoft.com/office/drawing/2014/main" id="{93D06CE8-9DBA-CCCB-17E8-879F161FF7B2}"/>
              </a:ext>
            </a:extLst>
          </p:cNvPr>
          <p:cNvSpPr txBox="1"/>
          <p:nvPr/>
        </p:nvSpPr>
        <p:spPr>
          <a:xfrm>
            <a:off x="1097280" y="5605470"/>
            <a:ext cx="6097978" cy="338554"/>
          </a:xfrm>
          <a:prstGeom prst="rect">
            <a:avLst/>
          </a:prstGeom>
          <a:noFill/>
        </p:spPr>
        <p:txBody>
          <a:bodyPr wrap="square">
            <a:spAutoFit/>
          </a:bodyPr>
          <a:lstStyle/>
          <a:p>
            <a:r>
              <a:rPr lang="en-IN" sz="1600" b="1" dirty="0"/>
              <a:t>Key Focus Areas</a:t>
            </a:r>
          </a:p>
        </p:txBody>
      </p:sp>
    </p:spTree>
    <p:extLst>
      <p:ext uri="{BB962C8B-B14F-4D97-AF65-F5344CB8AC3E}">
        <p14:creationId xmlns:p14="http://schemas.microsoft.com/office/powerpoint/2010/main" val="14962564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CFF96-C1AF-E7E6-1471-68A6492F3ECE}"/>
              </a:ext>
            </a:extLst>
          </p:cNvPr>
          <p:cNvSpPr>
            <a:spLocks noGrp="1"/>
          </p:cNvSpPr>
          <p:nvPr>
            <p:ph type="title"/>
          </p:nvPr>
        </p:nvSpPr>
        <p:spPr/>
        <p:txBody>
          <a:bodyPr/>
          <a:lstStyle/>
          <a:p>
            <a:r>
              <a:rPr lang="en-IN" dirty="0"/>
              <a:t>Key Insights</a:t>
            </a:r>
          </a:p>
        </p:txBody>
      </p:sp>
      <p:sp>
        <p:nvSpPr>
          <p:cNvPr id="5" name="Content Placeholder 4">
            <a:extLst>
              <a:ext uri="{FF2B5EF4-FFF2-40B4-BE49-F238E27FC236}">
                <a16:creationId xmlns:a16="http://schemas.microsoft.com/office/drawing/2014/main" id="{97DAD0B3-4A6E-4138-63DA-2807C11038B5}"/>
              </a:ext>
            </a:extLst>
          </p:cNvPr>
          <p:cNvSpPr>
            <a:spLocks noGrp="1"/>
          </p:cNvSpPr>
          <p:nvPr>
            <p:ph idx="1"/>
          </p:nvPr>
        </p:nvSpPr>
        <p:spPr/>
        <p:txBody>
          <a:bodyPr/>
          <a:lstStyle/>
          <a:p>
            <a:pPr marL="0" indent="0">
              <a:buClrTx/>
              <a:buNone/>
            </a:pPr>
            <a:r>
              <a:rPr lang="en-IN" dirty="0"/>
              <a:t>Based on the exploratory data analysis, the following insights were identified:</a:t>
            </a:r>
          </a:p>
          <a:p>
            <a:pPr>
              <a:buClrTx/>
              <a:buFont typeface="Arial" panose="020B0604020202020204" pitchFamily="34" charset="0"/>
              <a:buChar char="•"/>
            </a:pPr>
            <a:r>
              <a:rPr lang="en-IN" b="1" dirty="0"/>
              <a:t>Movies</a:t>
            </a:r>
            <a:r>
              <a:rPr lang="en-IN" dirty="0"/>
              <a:t> make up the majority of Netflix's content library. </a:t>
            </a:r>
          </a:p>
          <a:p>
            <a:pPr>
              <a:buClrTx/>
              <a:buFont typeface="Arial" panose="020B0604020202020204" pitchFamily="34" charset="0"/>
              <a:buChar char="•"/>
            </a:pPr>
            <a:r>
              <a:rPr lang="en-IN" dirty="0"/>
              <a:t>The </a:t>
            </a:r>
            <a:r>
              <a:rPr lang="en-IN" b="1" dirty="0"/>
              <a:t>United States</a:t>
            </a:r>
            <a:r>
              <a:rPr lang="en-IN" dirty="0"/>
              <a:t> contributes the highest number of titles. </a:t>
            </a:r>
          </a:p>
          <a:p>
            <a:pPr>
              <a:buClrTx/>
              <a:buFont typeface="Arial" panose="020B0604020202020204" pitchFamily="34" charset="0"/>
              <a:buChar char="•"/>
            </a:pPr>
            <a:r>
              <a:rPr lang="en-IN" b="1" dirty="0"/>
              <a:t>TV-MA</a:t>
            </a:r>
            <a:r>
              <a:rPr lang="en-IN" dirty="0"/>
              <a:t> is the most common content rating. </a:t>
            </a:r>
          </a:p>
          <a:p>
            <a:pPr>
              <a:buClrTx/>
              <a:buFont typeface="Arial" panose="020B0604020202020204" pitchFamily="34" charset="0"/>
              <a:buChar char="•"/>
            </a:pPr>
            <a:r>
              <a:rPr lang="en-IN" dirty="0"/>
              <a:t>Netflix's content library experienced significant growth </a:t>
            </a:r>
            <a:r>
              <a:rPr lang="en-IN" b="1" dirty="0"/>
              <a:t>after 2015</a:t>
            </a:r>
            <a:r>
              <a:rPr lang="en-IN" dirty="0"/>
              <a:t>. </a:t>
            </a:r>
          </a:p>
          <a:p>
            <a:pPr>
              <a:buClrTx/>
              <a:buFont typeface="Arial" panose="020B0604020202020204" pitchFamily="34" charset="0"/>
              <a:buChar char="•"/>
            </a:pPr>
            <a:r>
              <a:rPr lang="en-IN" b="1" dirty="0"/>
              <a:t>International Movies</a:t>
            </a:r>
            <a:r>
              <a:rPr lang="en-IN" dirty="0"/>
              <a:t> and </a:t>
            </a:r>
            <a:r>
              <a:rPr lang="en-IN" b="1" dirty="0"/>
              <a:t>Dramas</a:t>
            </a:r>
            <a:r>
              <a:rPr lang="en-IN" dirty="0"/>
              <a:t> are among the most popular genres. </a:t>
            </a:r>
          </a:p>
          <a:p>
            <a:pPr>
              <a:buClrTx/>
              <a:buFont typeface="Arial" panose="020B0604020202020204" pitchFamily="34" charset="0"/>
              <a:buChar char="•"/>
            </a:pPr>
            <a:r>
              <a:rPr lang="en-IN" dirty="0"/>
              <a:t>Most movies have a duration between </a:t>
            </a:r>
            <a:r>
              <a:rPr lang="en-IN" b="1" dirty="0"/>
              <a:t>80–120 minutes</a:t>
            </a:r>
            <a:r>
              <a:rPr lang="en-IN" dirty="0"/>
              <a:t>.</a:t>
            </a:r>
          </a:p>
          <a:p>
            <a:endParaRPr lang="en-IN" dirty="0"/>
          </a:p>
        </p:txBody>
      </p:sp>
    </p:spTree>
    <p:extLst>
      <p:ext uri="{BB962C8B-B14F-4D97-AF65-F5344CB8AC3E}">
        <p14:creationId xmlns:p14="http://schemas.microsoft.com/office/powerpoint/2010/main" val="2300875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C9561-BD79-E4E4-E08E-7425087184DB}"/>
              </a:ext>
            </a:extLst>
          </p:cNvPr>
          <p:cNvSpPr>
            <a:spLocks noGrp="1"/>
          </p:cNvSpPr>
          <p:nvPr>
            <p:ph type="title"/>
          </p:nvPr>
        </p:nvSpPr>
        <p:spPr/>
        <p:txBody>
          <a:bodyPr/>
          <a:lstStyle/>
          <a:p>
            <a:r>
              <a:rPr lang="en-IN" dirty="0"/>
              <a:t>Recommendations</a:t>
            </a:r>
          </a:p>
        </p:txBody>
      </p:sp>
      <p:sp>
        <p:nvSpPr>
          <p:cNvPr id="3" name="Content Placeholder 2">
            <a:extLst>
              <a:ext uri="{FF2B5EF4-FFF2-40B4-BE49-F238E27FC236}">
                <a16:creationId xmlns:a16="http://schemas.microsoft.com/office/drawing/2014/main" id="{9DD88705-62DD-1140-FF3B-E17C6B400E2B}"/>
              </a:ext>
            </a:extLst>
          </p:cNvPr>
          <p:cNvSpPr>
            <a:spLocks noGrp="1"/>
          </p:cNvSpPr>
          <p:nvPr>
            <p:ph idx="1"/>
          </p:nvPr>
        </p:nvSpPr>
        <p:spPr/>
        <p:txBody>
          <a:bodyPr/>
          <a:lstStyle/>
          <a:p>
            <a:r>
              <a:rPr lang="en-IN" dirty="0"/>
              <a:t>Based on the analysis, the following recommendations can help strengthen Netflix's content strategy:</a:t>
            </a:r>
          </a:p>
          <a:p>
            <a:pPr>
              <a:buClrTx/>
              <a:buFont typeface="Arial" panose="020B0604020202020204" pitchFamily="34" charset="0"/>
              <a:buChar char="•"/>
            </a:pPr>
            <a:r>
              <a:rPr lang="en-IN" dirty="0"/>
              <a:t>Expand investment in </a:t>
            </a:r>
            <a:r>
              <a:rPr lang="en-IN" b="1" dirty="0"/>
              <a:t>international content</a:t>
            </a:r>
            <a:r>
              <a:rPr lang="en-IN" dirty="0"/>
              <a:t> to reach a broader audience. </a:t>
            </a:r>
          </a:p>
          <a:p>
            <a:pPr>
              <a:buClrTx/>
              <a:buFont typeface="Arial" panose="020B0604020202020204" pitchFamily="34" charset="0"/>
              <a:buChar char="•"/>
            </a:pPr>
            <a:r>
              <a:rPr lang="en-IN" dirty="0"/>
              <a:t>Increase production in </a:t>
            </a:r>
            <a:r>
              <a:rPr lang="en-IN" b="1" dirty="0"/>
              <a:t>high-performing genres</a:t>
            </a:r>
            <a:r>
              <a:rPr lang="en-IN" dirty="0"/>
              <a:t> such as Drama and International Movies. </a:t>
            </a:r>
          </a:p>
          <a:p>
            <a:pPr>
              <a:buClrTx/>
              <a:buFont typeface="Arial" panose="020B0604020202020204" pitchFamily="34" charset="0"/>
              <a:buChar char="•"/>
            </a:pPr>
            <a:r>
              <a:rPr lang="en-IN" dirty="0"/>
              <a:t>Maintain a balanced mix of </a:t>
            </a:r>
            <a:r>
              <a:rPr lang="en-IN" b="1" dirty="0"/>
              <a:t>Movies</a:t>
            </a:r>
            <a:r>
              <a:rPr lang="en-IN" dirty="0"/>
              <a:t> and </a:t>
            </a:r>
            <a:r>
              <a:rPr lang="en-IN" b="1" dirty="0"/>
              <a:t>TV Shows</a:t>
            </a:r>
            <a:r>
              <a:rPr lang="en-IN" dirty="0"/>
              <a:t> to cater to diverse viewer preferences. </a:t>
            </a:r>
          </a:p>
          <a:p>
            <a:pPr>
              <a:buClrTx/>
              <a:buFont typeface="Arial" panose="020B0604020202020204" pitchFamily="34" charset="0"/>
              <a:buChar char="•"/>
            </a:pPr>
            <a:r>
              <a:rPr lang="en-IN" dirty="0"/>
              <a:t>Focus on </a:t>
            </a:r>
            <a:r>
              <a:rPr lang="en-IN" b="1" dirty="0"/>
              <a:t>data-driven content acquisition</a:t>
            </a:r>
            <a:r>
              <a:rPr lang="en-IN" dirty="0"/>
              <a:t> by </a:t>
            </a:r>
            <a:r>
              <a:rPr lang="en-IN" dirty="0" err="1"/>
              <a:t>analyzing</a:t>
            </a:r>
            <a:r>
              <a:rPr lang="en-IN" dirty="0"/>
              <a:t> audience demand and viewing trends. </a:t>
            </a:r>
          </a:p>
          <a:p>
            <a:pPr>
              <a:buClrTx/>
              <a:buFont typeface="Arial" panose="020B0604020202020204" pitchFamily="34" charset="0"/>
              <a:buChar char="•"/>
            </a:pPr>
            <a:r>
              <a:rPr lang="en-IN" dirty="0"/>
              <a:t>Continuously monitor </a:t>
            </a:r>
            <a:r>
              <a:rPr lang="en-IN" b="1" dirty="0"/>
              <a:t>content ratings</a:t>
            </a:r>
            <a:r>
              <a:rPr lang="en-IN" dirty="0"/>
              <a:t> and </a:t>
            </a:r>
            <a:r>
              <a:rPr lang="en-IN" b="1" dirty="0"/>
              <a:t>release trends</a:t>
            </a:r>
            <a:r>
              <a:rPr lang="en-IN" dirty="0"/>
              <a:t> to optimize future content planning.</a:t>
            </a:r>
          </a:p>
          <a:p>
            <a:endParaRPr lang="en-IN" dirty="0"/>
          </a:p>
        </p:txBody>
      </p:sp>
    </p:spTree>
    <p:extLst>
      <p:ext uri="{BB962C8B-B14F-4D97-AF65-F5344CB8AC3E}">
        <p14:creationId xmlns:p14="http://schemas.microsoft.com/office/powerpoint/2010/main" val="37845081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6A6F7-7DEB-3126-0999-A70C716F47C5}"/>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4888ECC7-894C-BBFB-01B3-11998EBCC3EB}"/>
              </a:ext>
            </a:extLst>
          </p:cNvPr>
          <p:cNvSpPr>
            <a:spLocks noGrp="1"/>
          </p:cNvSpPr>
          <p:nvPr>
            <p:ph idx="1"/>
          </p:nvPr>
        </p:nvSpPr>
        <p:spPr/>
        <p:txBody>
          <a:bodyPr/>
          <a:lstStyle/>
          <a:p>
            <a:r>
              <a:rPr lang="en-IN" dirty="0"/>
              <a:t>This project successfully </a:t>
            </a:r>
            <a:r>
              <a:rPr lang="en-IN" dirty="0" err="1"/>
              <a:t>analyzed</a:t>
            </a:r>
            <a:r>
              <a:rPr lang="en-IN" dirty="0"/>
              <a:t> the </a:t>
            </a:r>
            <a:r>
              <a:rPr lang="en-IN" b="1" dirty="0"/>
              <a:t>Netflix Movies &amp; TV Shows</a:t>
            </a:r>
            <a:r>
              <a:rPr lang="en-IN" dirty="0"/>
              <a:t> dataset using Python to uncover meaningful trends in content distribution, genres, ratings, release patterns, and geographic presence.</a:t>
            </a:r>
          </a:p>
          <a:p>
            <a:r>
              <a:rPr lang="en-IN" dirty="0"/>
              <a:t>The analysis demonstrated the complete data analysis workflow, including data cleaning, exploratory data analysis (EDA), visualization, and business insight generation. The findings highlight how Python can be used to transform raw data into actionable insights that support data-driven decision-making.</a:t>
            </a:r>
          </a:p>
          <a:p>
            <a:endParaRPr lang="en-IN" dirty="0"/>
          </a:p>
        </p:txBody>
      </p:sp>
    </p:spTree>
    <p:extLst>
      <p:ext uri="{BB962C8B-B14F-4D97-AF65-F5344CB8AC3E}">
        <p14:creationId xmlns:p14="http://schemas.microsoft.com/office/powerpoint/2010/main" val="34591990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3FF4F-7FB2-E97A-4B7A-611B35D02D8A}"/>
              </a:ext>
            </a:extLst>
          </p:cNvPr>
          <p:cNvSpPr>
            <a:spLocks noGrp="1"/>
          </p:cNvSpPr>
          <p:nvPr>
            <p:ph type="title"/>
          </p:nvPr>
        </p:nvSpPr>
        <p:spPr/>
        <p:txBody>
          <a:bodyPr/>
          <a:lstStyle/>
          <a:p>
            <a:r>
              <a:rPr lang="en-IN" dirty="0"/>
              <a:t>Thank You</a:t>
            </a:r>
          </a:p>
        </p:txBody>
      </p:sp>
      <p:sp>
        <p:nvSpPr>
          <p:cNvPr id="3" name="Content Placeholder 2">
            <a:extLst>
              <a:ext uri="{FF2B5EF4-FFF2-40B4-BE49-F238E27FC236}">
                <a16:creationId xmlns:a16="http://schemas.microsoft.com/office/drawing/2014/main" id="{78E2E820-DA6A-8D81-718E-CC79BE7DE3C7}"/>
              </a:ext>
            </a:extLst>
          </p:cNvPr>
          <p:cNvSpPr>
            <a:spLocks noGrp="1"/>
          </p:cNvSpPr>
          <p:nvPr>
            <p:ph idx="1"/>
          </p:nvPr>
        </p:nvSpPr>
        <p:spPr>
          <a:xfrm>
            <a:off x="1097280" y="2108202"/>
            <a:ext cx="10058400" cy="1596900"/>
          </a:xfrm>
        </p:spPr>
        <p:txBody>
          <a:bodyPr/>
          <a:lstStyle/>
          <a:p>
            <a:r>
              <a:rPr lang="en-IN" dirty="0"/>
              <a:t>Thank you for your time and attention.</a:t>
            </a:r>
          </a:p>
          <a:p>
            <a:r>
              <a:rPr lang="en-IN" dirty="0"/>
              <a:t>I appreciate the opportunity to present this project and demonstrate my Python data analysis skills. I look forward to applying these analytical techniques to solve real-world business problems.</a:t>
            </a:r>
          </a:p>
          <a:p>
            <a:endParaRPr lang="en-IN" dirty="0"/>
          </a:p>
        </p:txBody>
      </p:sp>
      <p:sp>
        <p:nvSpPr>
          <p:cNvPr id="5" name="TextBox 4">
            <a:extLst>
              <a:ext uri="{FF2B5EF4-FFF2-40B4-BE49-F238E27FC236}">
                <a16:creationId xmlns:a16="http://schemas.microsoft.com/office/drawing/2014/main" id="{8E95F359-318B-45F7-6262-49787F06ECE2}"/>
              </a:ext>
            </a:extLst>
          </p:cNvPr>
          <p:cNvSpPr txBox="1"/>
          <p:nvPr/>
        </p:nvSpPr>
        <p:spPr>
          <a:xfrm>
            <a:off x="6754091" y="4359856"/>
            <a:ext cx="6097978" cy="1754326"/>
          </a:xfrm>
          <a:prstGeom prst="rect">
            <a:avLst/>
          </a:prstGeom>
          <a:noFill/>
        </p:spPr>
        <p:txBody>
          <a:bodyPr wrap="square">
            <a:spAutoFit/>
          </a:bodyPr>
          <a:lstStyle/>
          <a:p>
            <a:pPr>
              <a:buNone/>
            </a:pPr>
            <a:r>
              <a:rPr lang="en-IN" b="1" dirty="0"/>
              <a:t>Prepared by</a:t>
            </a:r>
          </a:p>
          <a:p>
            <a:pPr>
              <a:buNone/>
            </a:pPr>
            <a:r>
              <a:rPr lang="en-IN" dirty="0"/>
              <a:t>Lalitha Devi Seri</a:t>
            </a:r>
          </a:p>
          <a:p>
            <a:pPr>
              <a:buNone/>
            </a:pPr>
            <a:r>
              <a:rPr lang="en-IN" dirty="0"/>
              <a:t>BBA (Marketing)</a:t>
            </a:r>
            <a:r>
              <a:rPr lang="en-IN" b="1" dirty="0"/>
              <a:t> </a:t>
            </a:r>
            <a:r>
              <a:rPr lang="en-IN" dirty="0"/>
              <a:t>Aspiring Marketing &amp; Data Analys</a:t>
            </a:r>
            <a:r>
              <a:rPr lang="en-IN" b="1" dirty="0"/>
              <a:t>t</a:t>
            </a:r>
            <a:endParaRPr lang="en-IN" dirty="0"/>
          </a:p>
          <a:p>
            <a:pPr>
              <a:buNone/>
            </a:pPr>
            <a:r>
              <a:rPr lang="en-IN" dirty="0"/>
              <a:t>📧 </a:t>
            </a:r>
            <a:r>
              <a:rPr lang="en-IN" b="1" dirty="0"/>
              <a:t>Email:</a:t>
            </a:r>
            <a:r>
              <a:rPr lang="en-IN" dirty="0"/>
              <a:t> serilalithadevi@gmail.com</a:t>
            </a:r>
          </a:p>
          <a:p>
            <a:pPr>
              <a:buNone/>
            </a:pPr>
            <a:r>
              <a:rPr lang="en-IN" dirty="0"/>
              <a:t>💼 </a:t>
            </a:r>
            <a:r>
              <a:rPr lang="en-IN" b="1" dirty="0"/>
              <a:t>LinkedIn:</a:t>
            </a:r>
            <a:r>
              <a:rPr lang="en-IN" dirty="0"/>
              <a:t> linkedin.com/in/</a:t>
            </a:r>
            <a:r>
              <a:rPr lang="en-IN" dirty="0" err="1"/>
              <a:t>lalitha</a:t>
            </a:r>
            <a:r>
              <a:rPr lang="en-IN" dirty="0"/>
              <a:t>-devi-</a:t>
            </a:r>
            <a:r>
              <a:rPr lang="en-IN" dirty="0" err="1"/>
              <a:t>seri</a:t>
            </a:r>
            <a:endParaRPr lang="en-IN" dirty="0"/>
          </a:p>
          <a:p>
            <a:pPr>
              <a:buNone/>
            </a:pPr>
            <a:r>
              <a:rPr lang="en-IN" dirty="0"/>
              <a:t>🐙 </a:t>
            </a:r>
            <a:r>
              <a:rPr lang="en-IN" b="1" dirty="0"/>
              <a:t>GitHub:</a:t>
            </a:r>
            <a:r>
              <a:rPr lang="en-IN" dirty="0"/>
              <a:t> github.com/</a:t>
            </a:r>
            <a:r>
              <a:rPr lang="en-IN" dirty="0" err="1"/>
              <a:t>serilalithadevi</a:t>
            </a:r>
            <a:endParaRPr lang="en-IN" dirty="0"/>
          </a:p>
        </p:txBody>
      </p:sp>
    </p:spTree>
    <p:extLst>
      <p:ext uri="{BB962C8B-B14F-4D97-AF65-F5344CB8AC3E}">
        <p14:creationId xmlns:p14="http://schemas.microsoft.com/office/powerpoint/2010/main" val="3412567920"/>
      </p:ext>
    </p:extLst>
  </p:cSld>
  <p:clrMapOvr>
    <a:masterClrMapping/>
  </p:clrMapOvr>
</p:sld>
</file>

<file path=ppt/theme/theme1.xml><?xml version="1.0" encoding="utf-8"?>
<a:theme xmlns:a="http://schemas.openxmlformats.org/drawingml/2006/main" name="Custom">
  <a:themeElements>
    <a:clrScheme name="Custom 34">
      <a:dk1>
        <a:sysClr val="windowText" lastClr="000000"/>
      </a:dk1>
      <a:lt1>
        <a:sysClr val="window" lastClr="FFFFFF"/>
      </a:lt1>
      <a:dk2>
        <a:srgbClr val="39302A"/>
      </a:dk2>
      <a:lt2>
        <a:srgbClr val="E5DEDB"/>
      </a:lt2>
      <a:accent1>
        <a:srgbClr val="EC7016"/>
      </a:accent1>
      <a:accent2>
        <a:srgbClr val="F8931D"/>
      </a:accent2>
      <a:accent3>
        <a:srgbClr val="CE8D3E"/>
      </a:accent3>
      <a:accent4>
        <a:srgbClr val="E64823"/>
      </a:accent4>
      <a:accent5>
        <a:srgbClr val="FFCA08"/>
      </a:accent5>
      <a:accent6>
        <a:srgbClr val="9C6A6A"/>
      </a:accent6>
      <a:hlink>
        <a:srgbClr val="2998E3"/>
      </a:hlink>
      <a:folHlink>
        <a:srgbClr val="7F723D"/>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F5B7AB07-F859-4656-A1C1-DAFCFA0ACA4B}" vid="{A6E2497D-935A-4CFD-B9FD-6DCB15FA68B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_ip_UnifiedCompliancePolicyUIAction xmlns="http://schemas.microsoft.com/sharepoint/v3" xsi:nil="true"/>
    <Image xmlns="71af3243-3dd4-4a8d-8c0d-dd76da1f02a5">
      <Url xsi:nil="true"/>
      <Description xsi:nil="true"/>
    </Image>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documentManagement>
</p:properties>
</file>

<file path=customXml/itemProps1.xml><?xml version="1.0" encoding="utf-8"?>
<ds:datastoreItem xmlns:ds="http://schemas.openxmlformats.org/officeDocument/2006/customXml" ds:itemID="{D2957789-34B8-480C-AF9B-3EB54B9E5C9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A3F7EDC-E5B4-4BBC-9D2A-CBE6D46C37AD}">
  <ds:schemaRefs>
    <ds:schemaRef ds:uri="http://schemas.microsoft.com/sharepoint/v3/contenttype/forms"/>
  </ds:schemaRefs>
</ds:datastoreItem>
</file>

<file path=customXml/itemProps3.xml><?xml version="1.0" encoding="utf-8"?>
<ds:datastoreItem xmlns:ds="http://schemas.openxmlformats.org/officeDocument/2006/customXml" ds:itemID="{A03EEFF0-FB57-4CB4-8BFC-DF397689E2ED}">
  <ds:schemaRefs>
    <ds:schemaRef ds:uri="http://purl.org/dc/elements/1.1/"/>
    <ds:schemaRef ds:uri="http://schemas.microsoft.com/office/infopath/2007/PartnerControls"/>
    <ds:schemaRef ds:uri="71af3243-3dd4-4a8d-8c0d-dd76da1f02a5"/>
    <ds:schemaRef ds:uri="http://schemas.openxmlformats.org/package/2006/metadata/core-properties"/>
    <ds:schemaRef ds:uri="230e9df3-be65-4c73-a93b-d1236ebd677e"/>
    <ds:schemaRef ds:uri="http://www.w3.org/XML/1998/namespace"/>
    <ds:schemaRef ds:uri="http://purl.org/dc/dcmitype/"/>
    <ds:schemaRef ds:uri="http://schemas.microsoft.com/office/2006/documentManagement/types"/>
    <ds:schemaRef ds:uri="http://purl.org/dc/terms/"/>
    <ds:schemaRef ds:uri="16c05727-aa75-4e4a-9b5f-8a80a1165891"/>
    <ds:schemaRef ds:uri="http://schemas.microsoft.com/sharepoint/v3"/>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{15CAEE56-0122-47E0-A6E9-BA2B57D0C21E}TFb63a7776-4452-49b2-8055-21efce632b726e3c8758_win32-7d1db0309ca7</Template>
  <TotalTime>36</TotalTime>
  <Words>826</Words>
  <Application>Microsoft Office PowerPoint</Application>
  <PresentationFormat>Widescreen</PresentationFormat>
  <Paragraphs>103</Paragraphs>
  <Slides>10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Bookman Old Style</vt:lpstr>
      <vt:lpstr>Calibri</vt:lpstr>
      <vt:lpstr>Franklin Gothic Book</vt:lpstr>
      <vt:lpstr>Custom</vt:lpstr>
      <vt:lpstr>Python Data Analysis  Exploratory Data Analysis of Netflix Movies &amp; TV Shows</vt:lpstr>
      <vt:lpstr>Project Overview</vt:lpstr>
      <vt:lpstr>Business Objective</vt:lpstr>
      <vt:lpstr>Dataset Overview</vt:lpstr>
      <vt:lpstr>Data Cleaning</vt:lpstr>
      <vt:lpstr>Exploratory Data Analysis (EDA)</vt:lpstr>
      <vt:lpstr>Key Insights</vt:lpstr>
      <vt:lpstr>Recommendations</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Seri Lalitha Devi</dc:creator>
  <cp:lastModifiedBy>Seri Lalitha Devi</cp:lastModifiedBy>
  <cp:revision>1</cp:revision>
  <dcterms:created xsi:type="dcterms:W3CDTF">2026-07-02T18:38:28Z</dcterms:created>
  <dcterms:modified xsi:type="dcterms:W3CDTF">2026-07-02T19:24:53Z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